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Inventory Optimization AI Agent</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Module-wise architecture, flow design, tool orchestration, and reliability model</a:t>
            </a:r>
            <a:endParaRPr lang="en-US" sz="1600" dirty="0"/>
          </a:p>
        </p:txBody>
      </p:sp>
      <p:sp>
        <p:nvSpPr>
          <p:cNvPr id="4" name="Shape 2"/>
          <p:cNvSpPr/>
          <p:nvPr/>
        </p:nvSpPr>
        <p:spPr>
          <a:xfrm>
            <a:off x="548640" y="1645920"/>
            <a:ext cx="1828800" cy="310896"/>
          </a:xfrm>
          <a:prstGeom prst="roundRect">
            <a:avLst>
              <a:gd name="adj" fmla="val 23529"/>
            </a:avLst>
          </a:prstGeom>
          <a:solidFill>
            <a:srgbClr val="00A6A6"/>
          </a:solidFill>
          <a:ln w="12700">
            <a:solidFill>
              <a:srgbClr val="00A6A6"/>
            </a:solidFill>
            <a:prstDash val="solid"/>
          </a:ln>
        </p:spPr>
      </p:sp>
      <p:sp>
        <p:nvSpPr>
          <p:cNvPr id="5" name="Text 3"/>
          <p:cNvSpPr/>
          <p:nvPr/>
        </p:nvSpPr>
        <p:spPr>
          <a:xfrm>
            <a:off x="621792" y="1700784"/>
            <a:ext cx="168249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Local-first</a:t>
            </a:r>
            <a:endParaRPr lang="en-US" sz="1100" dirty="0"/>
          </a:p>
        </p:txBody>
      </p:sp>
      <p:sp>
        <p:nvSpPr>
          <p:cNvPr id="6" name="Shape 4"/>
          <p:cNvSpPr/>
          <p:nvPr/>
        </p:nvSpPr>
        <p:spPr>
          <a:xfrm>
            <a:off x="2560320" y="1645920"/>
            <a:ext cx="2286000" cy="310896"/>
          </a:xfrm>
          <a:prstGeom prst="roundRect">
            <a:avLst>
              <a:gd name="adj" fmla="val 23529"/>
            </a:avLst>
          </a:prstGeom>
          <a:solidFill>
            <a:srgbClr val="57CC99"/>
          </a:solidFill>
          <a:ln w="12700">
            <a:solidFill>
              <a:srgbClr val="57CC99"/>
            </a:solidFill>
            <a:prstDash val="solid"/>
          </a:ln>
        </p:spPr>
      </p:sp>
      <p:sp>
        <p:nvSpPr>
          <p:cNvPr id="7" name="Text 5"/>
          <p:cNvSpPr/>
          <p:nvPr/>
        </p:nvSpPr>
        <p:spPr>
          <a:xfrm>
            <a:off x="2633472" y="1700784"/>
            <a:ext cx="213969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Advisory Workflow</a:t>
            </a:r>
            <a:endParaRPr lang="en-US" sz="1100" dirty="0"/>
          </a:p>
        </p:txBody>
      </p:sp>
      <p:sp>
        <p:nvSpPr>
          <p:cNvPr id="8" name="Shape 6"/>
          <p:cNvSpPr/>
          <p:nvPr/>
        </p:nvSpPr>
        <p:spPr>
          <a:xfrm>
            <a:off x="5029200" y="1645920"/>
            <a:ext cx="2651760" cy="310896"/>
          </a:xfrm>
          <a:prstGeom prst="roundRect">
            <a:avLst>
              <a:gd name="adj" fmla="val 23529"/>
            </a:avLst>
          </a:prstGeom>
          <a:solidFill>
            <a:srgbClr val="F9B872"/>
          </a:solidFill>
          <a:ln w="12700">
            <a:solidFill>
              <a:srgbClr val="F9B872"/>
            </a:solidFill>
            <a:prstDash val="solid"/>
          </a:ln>
        </p:spPr>
      </p:sp>
      <p:sp>
        <p:nvSpPr>
          <p:cNvPr id="9" name="Text 7"/>
          <p:cNvSpPr/>
          <p:nvPr/>
        </p:nvSpPr>
        <p:spPr>
          <a:xfrm>
            <a:off x="5102352" y="1700784"/>
            <a:ext cx="250545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Deterministic + Agentic</a:t>
            </a:r>
            <a:endParaRPr lang="en-US" sz="1100" dirty="0"/>
          </a:p>
        </p:txBody>
      </p:sp>
      <p:sp>
        <p:nvSpPr>
          <p:cNvPr id="10" name="Shape 8"/>
          <p:cNvSpPr/>
          <p:nvPr/>
        </p:nvSpPr>
        <p:spPr>
          <a:xfrm>
            <a:off x="548640" y="2194560"/>
            <a:ext cx="3749040" cy="3566160"/>
          </a:xfrm>
          <a:prstGeom prst="roundRect">
            <a:avLst>
              <a:gd name="adj" fmla="val 2051"/>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694944" y="2304288"/>
            <a:ext cx="34747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What the Project Does</a:t>
            </a:r>
            <a:endParaRPr lang="en-US" sz="1600" dirty="0"/>
          </a:p>
        </p:txBody>
      </p:sp>
      <p:sp>
        <p:nvSpPr>
          <p:cNvPr id="12" name="Text 10"/>
          <p:cNvSpPr/>
          <p:nvPr/>
        </p:nvSpPr>
        <p:spPr>
          <a:xfrm>
            <a:off x="694944" y="2633472"/>
            <a:ext cx="3474720" cy="30358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Analyzes SKU inventory health, computes reorder signals, enriches context via runtime NetworkX graph, applies rule logic, and generates explainable recommendations in Streamlit.</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Advisory-only: no direct order placement.</a:t>
            </a:r>
            <a:endParaRPr lang="en-US" sz="1200" dirty="0"/>
          </a:p>
        </p:txBody>
      </p:sp>
      <p:sp>
        <p:nvSpPr>
          <p:cNvPr id="13" name="Shape 11"/>
          <p:cNvSpPr/>
          <p:nvPr/>
        </p:nvSpPr>
        <p:spPr>
          <a:xfrm>
            <a:off x="4526280" y="2194560"/>
            <a:ext cx="3474720" cy="1645920"/>
          </a:xfrm>
          <a:prstGeom prst="roundRect">
            <a:avLst>
              <a:gd name="adj" fmla="val 4444"/>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4" name="Text 12"/>
          <p:cNvSpPr/>
          <p:nvPr/>
        </p:nvSpPr>
        <p:spPr>
          <a:xfrm>
            <a:off x="4672584" y="2304288"/>
            <a:ext cx="3200400" cy="274320"/>
          </a:xfrm>
          <a:prstGeom prst="rect">
            <a:avLst/>
          </a:prstGeom>
          <a:noFill/>
          <a:ln/>
        </p:spPr>
        <p:txBody>
          <a:bodyPr wrap="square" lIns="0" tIns="0" rIns="0" bIns="0" rtlCol="0" anchor="ctr"/>
          <a:lstStyle/>
          <a:p>
            <a:pPr indent="0" marL="0">
              <a:buNone/>
            </a:pPr>
            <a:r>
              <a:rPr lang="en-US" sz="1600" b="1" dirty="0">
                <a:solidFill>
                  <a:srgbClr val="0D5A5A"/>
                </a:solidFill>
                <a:latin typeface="Cambria" pitchFamily="34" charset="0"/>
                <a:ea typeface="Cambria" pitchFamily="34" charset="-122"/>
                <a:cs typeface="Cambria" pitchFamily="34" charset="-120"/>
              </a:rPr>
              <a:t>Primary Outcomes</a:t>
            </a:r>
            <a:endParaRPr lang="en-US" sz="1600" dirty="0"/>
          </a:p>
        </p:txBody>
      </p:sp>
      <p:sp>
        <p:nvSpPr>
          <p:cNvPr id="15" name="Text 13"/>
          <p:cNvSpPr/>
          <p:nvPr/>
        </p:nvSpPr>
        <p:spPr>
          <a:xfrm>
            <a:off x="4672584" y="2633472"/>
            <a:ext cx="3200400" cy="11155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Priority SKU queue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Plain-language actions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Traceable tool/flow logs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Fast + thinking execution modes</a:t>
            </a:r>
            <a:endParaRPr lang="en-US" sz="1200" dirty="0"/>
          </a:p>
        </p:txBody>
      </p:sp>
      <p:sp>
        <p:nvSpPr>
          <p:cNvPr id="16" name="Shape 14"/>
          <p:cNvSpPr/>
          <p:nvPr/>
        </p:nvSpPr>
        <p:spPr>
          <a:xfrm>
            <a:off x="8183880" y="2194560"/>
            <a:ext cx="3474720" cy="1645920"/>
          </a:xfrm>
          <a:prstGeom prst="roundRect">
            <a:avLst>
              <a:gd name="adj" fmla="val 4444"/>
            </a:avLst>
          </a:prstGeom>
          <a:solidFill>
            <a:srgbClr val="FFF8EE"/>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7" name="Text 15"/>
          <p:cNvSpPr/>
          <p:nvPr/>
        </p:nvSpPr>
        <p:spPr>
          <a:xfrm>
            <a:off x="8330184" y="2304288"/>
            <a:ext cx="3200400" cy="274320"/>
          </a:xfrm>
          <a:prstGeom prst="rect">
            <a:avLst/>
          </a:prstGeom>
          <a:noFill/>
          <a:ln/>
        </p:spPr>
        <p:txBody>
          <a:bodyPr wrap="square" lIns="0" tIns="0" rIns="0" bIns="0" rtlCol="0" anchor="ctr"/>
          <a:lstStyle/>
          <a:p>
            <a:pPr indent="0" marL="0">
              <a:buNone/>
            </a:pPr>
            <a:r>
              <a:rPr lang="en-US" sz="1600" b="1" dirty="0">
                <a:solidFill>
                  <a:srgbClr val="8A5B15"/>
                </a:solidFill>
                <a:latin typeface="Cambria" pitchFamily="34" charset="0"/>
                <a:ea typeface="Cambria" pitchFamily="34" charset="-122"/>
                <a:cs typeface="Cambria" pitchFamily="34" charset="-120"/>
              </a:rPr>
              <a:t>Core Tech Stack</a:t>
            </a:r>
            <a:endParaRPr lang="en-US" sz="1600" dirty="0"/>
          </a:p>
        </p:txBody>
      </p:sp>
      <p:sp>
        <p:nvSpPr>
          <p:cNvPr id="18" name="Text 16"/>
          <p:cNvSpPr/>
          <p:nvPr/>
        </p:nvSpPr>
        <p:spPr>
          <a:xfrm>
            <a:off x="8330184" y="2633472"/>
            <a:ext cx="3200400" cy="11155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Streamlit UI</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LangGraph state machine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FastMCP tool interface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NetworkX runtime graph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Ollama-hosted local LLM</a:t>
            </a:r>
            <a:endParaRPr lang="en-US" sz="1200" dirty="0"/>
          </a:p>
        </p:txBody>
      </p:sp>
      <p:sp>
        <p:nvSpPr>
          <p:cNvPr id="19" name="Shape 17"/>
          <p:cNvSpPr/>
          <p:nvPr/>
        </p:nvSpPr>
        <p:spPr>
          <a:xfrm>
            <a:off x="4526280" y="4069080"/>
            <a:ext cx="7132320" cy="1691640"/>
          </a:xfrm>
          <a:prstGeom prst="roundRect">
            <a:avLst>
              <a:gd name="adj" fmla="val 4324"/>
            </a:avLst>
          </a:prstGeom>
          <a:solidFill>
            <a:srgbClr val="FFFF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0" name="Text 18"/>
          <p:cNvSpPr/>
          <p:nvPr/>
        </p:nvSpPr>
        <p:spPr>
          <a:xfrm>
            <a:off x="4672584" y="4178808"/>
            <a:ext cx="6858000" cy="274320"/>
          </a:xfrm>
          <a:prstGeom prst="rect">
            <a:avLst/>
          </a:prstGeom>
          <a:noFill/>
          <a:ln/>
        </p:spPr>
        <p:txBody>
          <a:bodyPr wrap="square" lIns="0" tIns="0" rIns="0" bIns="0" rtlCol="0" anchor="ctr"/>
          <a:lstStyle/>
          <a:p>
            <a:pPr indent="0" marL="0">
              <a:buNone/>
            </a:pPr>
            <a:r>
              <a:rPr lang="en-US" sz="1600" b="1" dirty="0">
                <a:solidFill>
                  <a:srgbClr val="2A3359"/>
                </a:solidFill>
                <a:latin typeface="Cambria" pitchFamily="34" charset="0"/>
                <a:ea typeface="Cambria" pitchFamily="34" charset="-122"/>
                <a:cs typeface="Cambria" pitchFamily="34" charset="-120"/>
              </a:rPr>
              <a:t>Balanced Operating Model</a:t>
            </a:r>
            <a:endParaRPr lang="en-US" sz="1600" dirty="0"/>
          </a:p>
        </p:txBody>
      </p:sp>
      <p:sp>
        <p:nvSpPr>
          <p:cNvPr id="21" name="Text 19"/>
          <p:cNvSpPr/>
          <p:nvPr/>
        </p:nvSpPr>
        <p:spPr>
          <a:xfrm>
            <a:off x="4672584" y="4507992"/>
            <a:ext cx="6858000" cy="11612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Fast mode prioritizes speed and deterministic reliability. Thinking mode adds graph enrichment and optional planner-driven agentic loops. The architecture keeps explainability and observability in every path.</a:t>
            </a:r>
            <a:endParaRPr lang="en-US" sz="1200" dirty="0"/>
          </a:p>
        </p:txBody>
      </p:sp>
      <p:sp>
        <p:nvSpPr>
          <p:cNvPr id="22" name="Text 20"/>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Inventory Manager | Architecture Module Deck | 1/10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Why This Architecture</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Design constraints that drove module boundaries and execution strategy</a:t>
            </a:r>
            <a:endParaRPr lang="en-US" sz="1600" dirty="0"/>
          </a:p>
        </p:txBody>
      </p:sp>
      <p:sp>
        <p:nvSpPr>
          <p:cNvPr id="4" name="Shape 2"/>
          <p:cNvSpPr/>
          <p:nvPr/>
        </p:nvSpPr>
        <p:spPr>
          <a:xfrm>
            <a:off x="548640" y="1600200"/>
            <a:ext cx="5486400" cy="4480560"/>
          </a:xfrm>
          <a:prstGeom prst="roundRect">
            <a:avLst>
              <a:gd name="adj" fmla="val 1633"/>
            </a:avLst>
          </a:prstGeom>
          <a:solidFill>
            <a:srgbClr val="FFFF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694944" y="1709928"/>
            <a:ext cx="52120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Operational Constraints</a:t>
            </a:r>
            <a:endParaRPr lang="en-US" sz="1600" dirty="0"/>
          </a:p>
        </p:txBody>
      </p:sp>
      <p:sp>
        <p:nvSpPr>
          <p:cNvPr id="6" name="Text 4"/>
          <p:cNvSpPr/>
          <p:nvPr/>
        </p:nvSpPr>
        <p:spPr>
          <a:xfrm>
            <a:off x="694944" y="2039112"/>
            <a:ext cx="5212080" cy="39502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1) Inventory decisions must remain reviewable and auditable.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2) Input quality varies; pipeline must tolerate partial data.</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3) The system should run locally with minimal cloud dependence.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4) Different users need either speed-first or depth-first analysis.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5) Agent behavior must be observable, not opaque.</a:t>
            </a:r>
            <a:endParaRPr lang="en-US" sz="1200" dirty="0"/>
          </a:p>
        </p:txBody>
      </p:sp>
      <p:sp>
        <p:nvSpPr>
          <p:cNvPr id="7" name="Shape 5"/>
          <p:cNvSpPr/>
          <p:nvPr/>
        </p:nvSpPr>
        <p:spPr>
          <a:xfrm>
            <a:off x="6309360" y="1600200"/>
            <a:ext cx="5394960" cy="2148840"/>
          </a:xfrm>
          <a:prstGeom prst="roundRect">
            <a:avLst>
              <a:gd name="adj" fmla="val 3404"/>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6455664" y="1709928"/>
            <a:ext cx="512064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Architectural Responses</a:t>
            </a:r>
            <a:endParaRPr lang="en-US" sz="1600" dirty="0"/>
          </a:p>
        </p:txBody>
      </p:sp>
      <p:sp>
        <p:nvSpPr>
          <p:cNvPr id="9" name="Text 7"/>
          <p:cNvSpPr/>
          <p:nvPr/>
        </p:nvSpPr>
        <p:spPr>
          <a:xfrm>
            <a:off x="6455664" y="2039112"/>
            <a:ext cx="5120640" cy="16184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LangGraph for explicit state transitions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MCP tools for typed, reusable operations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Runtime NetworkX graph for contextual enrichment</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Deterministic + planner-based agentic routes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Structured diagnostics and trace exports</a:t>
            </a:r>
            <a:endParaRPr lang="en-US" sz="1200" dirty="0"/>
          </a:p>
        </p:txBody>
      </p:sp>
      <p:sp>
        <p:nvSpPr>
          <p:cNvPr id="10" name="Shape 8"/>
          <p:cNvSpPr/>
          <p:nvPr/>
        </p:nvSpPr>
        <p:spPr>
          <a:xfrm>
            <a:off x="6309360" y="3977640"/>
            <a:ext cx="5394960" cy="2103120"/>
          </a:xfrm>
          <a:prstGeom prst="roundRect">
            <a:avLst>
              <a:gd name="adj" fmla="val 3478"/>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6455664" y="4087368"/>
            <a:ext cx="512064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File References</a:t>
            </a:r>
            <a:endParaRPr lang="en-US" sz="1600" dirty="0"/>
          </a:p>
        </p:txBody>
      </p:sp>
      <p:sp>
        <p:nvSpPr>
          <p:cNvPr id="12" name="Text 10"/>
          <p:cNvSpPr/>
          <p:nvPr/>
        </p:nvSpPr>
        <p:spPr>
          <a:xfrm>
            <a:off x="6455664" y="4416552"/>
            <a:ext cx="5120640" cy="15727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`main.py`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`agent/graph.py`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`agent/state.py`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`ui/runner.py`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`ui/tabs.py`</a:t>
            </a:r>
            <a:endParaRPr lang="en-US" sz="1200" dirty="0"/>
          </a:p>
        </p:txBody>
      </p:sp>
      <p:sp>
        <p:nvSpPr>
          <p:cNvPr id="13" name="Text 11"/>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2/10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End-to-End System Architecture</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How data, tools, and model outputs move through the platform</a:t>
            </a:r>
            <a:endParaRPr lang="en-US" sz="1600" dirty="0"/>
          </a:p>
        </p:txBody>
      </p:sp>
      <p:sp>
        <p:nvSpPr>
          <p:cNvPr id="4" name="Shape 2"/>
          <p:cNvSpPr/>
          <p:nvPr/>
        </p:nvSpPr>
        <p:spPr>
          <a:xfrm>
            <a:off x="731520" y="1828800"/>
            <a:ext cx="1965960" cy="914400"/>
          </a:xfrm>
          <a:prstGeom prst="roundRect">
            <a:avLst>
              <a:gd name="adj" fmla="val 8000"/>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877824" y="1938528"/>
            <a:ext cx="1691640" cy="274320"/>
          </a:xfrm>
          <a:prstGeom prst="rect">
            <a:avLst/>
          </a:prstGeom>
          <a:noFill/>
          <a:ln/>
        </p:spPr>
        <p:txBody>
          <a:bodyPr wrap="square" lIns="0" tIns="0" rIns="0" bIns="0" rtlCol="0" anchor="ctr"/>
          <a:lstStyle/>
          <a:p>
            <a:pPr indent="0" marL="0">
              <a:buNone/>
            </a:pPr>
            <a:endParaRPr lang="en-US" sz="1600" dirty="0"/>
          </a:p>
        </p:txBody>
      </p:sp>
      <p:sp>
        <p:nvSpPr>
          <p:cNvPr id="6" name="Text 4"/>
          <p:cNvSpPr/>
          <p:nvPr/>
        </p:nvSpPr>
        <p:spPr>
          <a:xfrm>
            <a:off x="877824" y="2267712"/>
            <a:ext cx="1691640" cy="384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Streamlit UI</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`ui/tabs.py`</a:t>
            </a:r>
            <a:endParaRPr lang="en-US" sz="1200" dirty="0"/>
          </a:p>
        </p:txBody>
      </p:sp>
      <p:sp>
        <p:nvSpPr>
          <p:cNvPr id="7" name="Shape 5"/>
          <p:cNvSpPr/>
          <p:nvPr/>
        </p:nvSpPr>
        <p:spPr>
          <a:xfrm>
            <a:off x="2880360" y="1828800"/>
            <a:ext cx="2011680" cy="914400"/>
          </a:xfrm>
          <a:prstGeom prst="roundRect">
            <a:avLst>
              <a:gd name="adj" fmla="val 8000"/>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3026664" y="1938528"/>
            <a:ext cx="1737360" cy="274320"/>
          </a:xfrm>
          <a:prstGeom prst="rect">
            <a:avLst/>
          </a:prstGeom>
          <a:noFill/>
          <a:ln/>
        </p:spPr>
        <p:txBody>
          <a:bodyPr wrap="square" lIns="0" tIns="0" rIns="0" bIns="0" rtlCol="0" anchor="ctr"/>
          <a:lstStyle/>
          <a:p>
            <a:pPr indent="0" marL="0">
              <a:buNone/>
            </a:pPr>
            <a:endParaRPr lang="en-US" sz="1600" dirty="0"/>
          </a:p>
        </p:txBody>
      </p:sp>
      <p:sp>
        <p:nvSpPr>
          <p:cNvPr id="9" name="Text 7"/>
          <p:cNvSpPr/>
          <p:nvPr/>
        </p:nvSpPr>
        <p:spPr>
          <a:xfrm>
            <a:off x="3026664" y="2267712"/>
            <a:ext cx="1737360" cy="384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Runner</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`ui/runner.py`</a:t>
            </a:r>
            <a:endParaRPr lang="en-US" sz="1200" dirty="0"/>
          </a:p>
        </p:txBody>
      </p:sp>
      <p:sp>
        <p:nvSpPr>
          <p:cNvPr id="10" name="Shape 8"/>
          <p:cNvSpPr/>
          <p:nvPr/>
        </p:nvSpPr>
        <p:spPr>
          <a:xfrm>
            <a:off x="5074920" y="1828800"/>
            <a:ext cx="2377440" cy="914400"/>
          </a:xfrm>
          <a:prstGeom prst="roundRect">
            <a:avLst>
              <a:gd name="adj" fmla="val 8000"/>
            </a:avLst>
          </a:prstGeom>
          <a:solidFill>
            <a:srgbClr val="FFF8EE"/>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5221224" y="1938528"/>
            <a:ext cx="2103120" cy="274320"/>
          </a:xfrm>
          <a:prstGeom prst="rect">
            <a:avLst/>
          </a:prstGeom>
          <a:noFill/>
          <a:ln/>
        </p:spPr>
        <p:txBody>
          <a:bodyPr wrap="square" lIns="0" tIns="0" rIns="0" bIns="0" rtlCol="0" anchor="ctr"/>
          <a:lstStyle/>
          <a:p>
            <a:pPr indent="0" marL="0">
              <a:buNone/>
            </a:pPr>
            <a:endParaRPr lang="en-US" sz="1600" dirty="0"/>
          </a:p>
        </p:txBody>
      </p:sp>
      <p:sp>
        <p:nvSpPr>
          <p:cNvPr id="12" name="Text 10"/>
          <p:cNvSpPr/>
          <p:nvPr/>
        </p:nvSpPr>
        <p:spPr>
          <a:xfrm>
            <a:off x="5221224" y="2267712"/>
            <a:ext cx="2103120" cy="384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LangGraph App</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`agent/graph.py`</a:t>
            </a:r>
            <a:endParaRPr lang="en-US" sz="1200" dirty="0"/>
          </a:p>
        </p:txBody>
      </p:sp>
      <p:sp>
        <p:nvSpPr>
          <p:cNvPr id="13" name="Shape 11"/>
          <p:cNvSpPr/>
          <p:nvPr/>
        </p:nvSpPr>
        <p:spPr>
          <a:xfrm>
            <a:off x="7680960" y="1828800"/>
            <a:ext cx="1874520" cy="914400"/>
          </a:xfrm>
          <a:prstGeom prst="roundRect">
            <a:avLst>
              <a:gd name="adj" fmla="val 8000"/>
            </a:avLst>
          </a:prstGeom>
          <a:solidFill>
            <a:srgbClr val="F7F2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4" name="Text 12"/>
          <p:cNvSpPr/>
          <p:nvPr/>
        </p:nvSpPr>
        <p:spPr>
          <a:xfrm>
            <a:off x="7827264" y="1938528"/>
            <a:ext cx="1600200" cy="274320"/>
          </a:xfrm>
          <a:prstGeom prst="rect">
            <a:avLst/>
          </a:prstGeom>
          <a:noFill/>
          <a:ln/>
        </p:spPr>
        <p:txBody>
          <a:bodyPr wrap="square" lIns="0" tIns="0" rIns="0" bIns="0" rtlCol="0" anchor="ctr"/>
          <a:lstStyle/>
          <a:p>
            <a:pPr indent="0" marL="0">
              <a:buNone/>
            </a:pPr>
            <a:endParaRPr lang="en-US" sz="1600" dirty="0"/>
          </a:p>
        </p:txBody>
      </p:sp>
      <p:sp>
        <p:nvSpPr>
          <p:cNvPr id="15" name="Text 13"/>
          <p:cNvSpPr/>
          <p:nvPr/>
        </p:nvSpPr>
        <p:spPr>
          <a:xfrm>
            <a:off x="7827264" y="2267712"/>
            <a:ext cx="1600200" cy="384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Nodes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`agent/nodes/*`</a:t>
            </a:r>
            <a:endParaRPr lang="en-US" sz="1200" dirty="0"/>
          </a:p>
        </p:txBody>
      </p:sp>
      <p:sp>
        <p:nvSpPr>
          <p:cNvPr id="16" name="Shape 14"/>
          <p:cNvSpPr/>
          <p:nvPr/>
        </p:nvSpPr>
        <p:spPr>
          <a:xfrm>
            <a:off x="9784080" y="1828800"/>
            <a:ext cx="1691640" cy="914400"/>
          </a:xfrm>
          <a:prstGeom prst="roundRect">
            <a:avLst>
              <a:gd name="adj" fmla="val 8000"/>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7" name="Text 15"/>
          <p:cNvSpPr/>
          <p:nvPr/>
        </p:nvSpPr>
        <p:spPr>
          <a:xfrm>
            <a:off x="9930384" y="1938528"/>
            <a:ext cx="1417320" cy="274320"/>
          </a:xfrm>
          <a:prstGeom prst="rect">
            <a:avLst/>
          </a:prstGeom>
          <a:noFill/>
          <a:ln/>
        </p:spPr>
        <p:txBody>
          <a:bodyPr wrap="square" lIns="0" tIns="0" rIns="0" bIns="0" rtlCol="0" anchor="ctr"/>
          <a:lstStyle/>
          <a:p>
            <a:pPr indent="0" marL="0">
              <a:buNone/>
            </a:pPr>
            <a:endParaRPr lang="en-US" sz="1600" dirty="0"/>
          </a:p>
        </p:txBody>
      </p:sp>
      <p:sp>
        <p:nvSpPr>
          <p:cNvPr id="18" name="Text 16"/>
          <p:cNvSpPr/>
          <p:nvPr/>
        </p:nvSpPr>
        <p:spPr>
          <a:xfrm>
            <a:off x="9930384" y="2267712"/>
            <a:ext cx="1417320" cy="384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Output</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JSON + UI</a:t>
            </a:r>
            <a:endParaRPr lang="en-US" sz="1200" dirty="0"/>
          </a:p>
        </p:txBody>
      </p:sp>
      <p:sp>
        <p:nvSpPr>
          <p:cNvPr id="19" name="Shape 17"/>
          <p:cNvSpPr/>
          <p:nvPr/>
        </p:nvSpPr>
        <p:spPr>
          <a:xfrm>
            <a:off x="2734056" y="2112264"/>
            <a:ext cx="201168" cy="320040"/>
          </a:xfrm>
          <a:prstGeom prst="chevron">
            <a:avLst/>
          </a:prstGeom>
          <a:solidFill>
            <a:srgbClr val="6E7BA6"/>
          </a:solidFill>
          <a:ln w="12700">
            <a:solidFill>
              <a:srgbClr val="6E7BA6"/>
            </a:solidFill>
            <a:prstDash val="solid"/>
          </a:ln>
        </p:spPr>
      </p:sp>
      <p:sp>
        <p:nvSpPr>
          <p:cNvPr id="20" name="Shape 18"/>
          <p:cNvSpPr/>
          <p:nvPr/>
        </p:nvSpPr>
        <p:spPr>
          <a:xfrm>
            <a:off x="4928616" y="2112264"/>
            <a:ext cx="201168" cy="320040"/>
          </a:xfrm>
          <a:prstGeom prst="chevron">
            <a:avLst/>
          </a:prstGeom>
          <a:solidFill>
            <a:srgbClr val="6E7BA6"/>
          </a:solidFill>
          <a:ln w="12700">
            <a:solidFill>
              <a:srgbClr val="6E7BA6"/>
            </a:solidFill>
            <a:prstDash val="solid"/>
          </a:ln>
        </p:spPr>
      </p:sp>
      <p:sp>
        <p:nvSpPr>
          <p:cNvPr id="21" name="Shape 19"/>
          <p:cNvSpPr/>
          <p:nvPr/>
        </p:nvSpPr>
        <p:spPr>
          <a:xfrm>
            <a:off x="7488936" y="2112264"/>
            <a:ext cx="201168" cy="320040"/>
          </a:xfrm>
          <a:prstGeom prst="chevron">
            <a:avLst/>
          </a:prstGeom>
          <a:solidFill>
            <a:srgbClr val="6E7BA6"/>
          </a:solidFill>
          <a:ln w="12700">
            <a:solidFill>
              <a:srgbClr val="6E7BA6"/>
            </a:solidFill>
            <a:prstDash val="solid"/>
          </a:ln>
        </p:spPr>
      </p:sp>
      <p:sp>
        <p:nvSpPr>
          <p:cNvPr id="22" name="Shape 20"/>
          <p:cNvSpPr/>
          <p:nvPr/>
        </p:nvSpPr>
        <p:spPr>
          <a:xfrm>
            <a:off x="9592056" y="2112264"/>
            <a:ext cx="201168" cy="320040"/>
          </a:xfrm>
          <a:prstGeom prst="chevron">
            <a:avLst/>
          </a:prstGeom>
          <a:solidFill>
            <a:srgbClr val="6E7BA6"/>
          </a:solidFill>
          <a:ln w="12700">
            <a:solidFill>
              <a:srgbClr val="6E7BA6"/>
            </a:solidFill>
            <a:prstDash val="solid"/>
          </a:ln>
        </p:spPr>
      </p:sp>
      <p:sp>
        <p:nvSpPr>
          <p:cNvPr id="23" name="Shape 21"/>
          <p:cNvSpPr/>
          <p:nvPr/>
        </p:nvSpPr>
        <p:spPr>
          <a:xfrm>
            <a:off x="731520" y="3063240"/>
            <a:ext cx="3246120" cy="2606040"/>
          </a:xfrm>
          <a:prstGeom prst="roundRect">
            <a:avLst>
              <a:gd name="adj" fmla="val 2807"/>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4" name="Text 22"/>
          <p:cNvSpPr/>
          <p:nvPr/>
        </p:nvSpPr>
        <p:spPr>
          <a:xfrm>
            <a:off x="877824" y="3172968"/>
            <a:ext cx="297180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Tool Layer</a:t>
            </a:r>
            <a:endParaRPr lang="en-US" sz="1600" dirty="0"/>
          </a:p>
        </p:txBody>
      </p:sp>
      <p:sp>
        <p:nvSpPr>
          <p:cNvPr id="25" name="Text 23"/>
          <p:cNvSpPr/>
          <p:nvPr/>
        </p:nvSpPr>
        <p:spPr>
          <a:xfrm>
            <a:off x="877824" y="3502152"/>
            <a:ext cx="2971800" cy="20756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MCP tool server centralizes operational primitives: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`tools/server.py`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`tools/load_data.py`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`tools/calc_metrics.py`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`tools/query_graph.py`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`tools/fetch_rules.py`</a:t>
            </a:r>
            <a:endParaRPr lang="en-US" sz="1200" dirty="0"/>
          </a:p>
        </p:txBody>
      </p:sp>
      <p:sp>
        <p:nvSpPr>
          <p:cNvPr id="26" name="Shape 24"/>
          <p:cNvSpPr/>
          <p:nvPr/>
        </p:nvSpPr>
        <p:spPr>
          <a:xfrm>
            <a:off x="4206240" y="3063240"/>
            <a:ext cx="2240280" cy="2606040"/>
          </a:xfrm>
          <a:prstGeom prst="roundRect">
            <a:avLst>
              <a:gd name="adj" fmla="val 3265"/>
            </a:avLst>
          </a:prstGeom>
          <a:solidFill>
            <a:srgbClr val="F7FA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7" name="Text 25"/>
          <p:cNvSpPr/>
          <p:nvPr/>
        </p:nvSpPr>
        <p:spPr>
          <a:xfrm>
            <a:off x="4352544" y="3172968"/>
            <a:ext cx="196596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Knowledge</a:t>
            </a:r>
            <a:endParaRPr lang="en-US" sz="1600" dirty="0"/>
          </a:p>
        </p:txBody>
      </p:sp>
      <p:sp>
        <p:nvSpPr>
          <p:cNvPr id="28" name="Text 26"/>
          <p:cNvSpPr/>
          <p:nvPr/>
        </p:nvSpPr>
        <p:spPr>
          <a:xfrm>
            <a:off x="4352544" y="3502152"/>
            <a:ext cx="1965960" cy="20756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Runtime context modules: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`knowledge/networkx_graph.py`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`knowledge/cache_layer.py`</a:t>
            </a:r>
            <a:endParaRPr lang="en-US" sz="1200" dirty="0"/>
          </a:p>
        </p:txBody>
      </p:sp>
      <p:sp>
        <p:nvSpPr>
          <p:cNvPr id="29" name="Shape 27"/>
          <p:cNvSpPr/>
          <p:nvPr/>
        </p:nvSpPr>
        <p:spPr>
          <a:xfrm>
            <a:off x="6583680" y="3063240"/>
            <a:ext cx="4892040" cy="2606040"/>
          </a:xfrm>
          <a:prstGeom prst="roundRect">
            <a:avLst>
              <a:gd name="adj" fmla="val 2807"/>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30" name="Text 28"/>
          <p:cNvSpPr/>
          <p:nvPr/>
        </p:nvSpPr>
        <p:spPr>
          <a:xfrm>
            <a:off x="6729984" y="3172968"/>
            <a:ext cx="46177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Observability Layer</a:t>
            </a:r>
            <a:endParaRPr lang="en-US" sz="1600" dirty="0"/>
          </a:p>
        </p:txBody>
      </p:sp>
      <p:sp>
        <p:nvSpPr>
          <p:cNvPr id="31" name="Text 29"/>
          <p:cNvSpPr/>
          <p:nvPr/>
        </p:nvSpPr>
        <p:spPr>
          <a:xfrm>
            <a:off x="6729984" y="3502152"/>
            <a:ext cx="4617720" cy="20756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Every run emits structured execution telemetry: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flow timeline (`flow_events`)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 invocation logs (`tool_call_logs`)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LLM batch logs (`llm_batch_events`)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graph runtime stats and warnings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Primary surfaces: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`ui/tabs.py` (Live Trace + Diagnostics)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`agent/logging_utils.py`</a:t>
            </a:r>
            <a:endParaRPr lang="en-US" sz="1200" dirty="0"/>
          </a:p>
        </p:txBody>
      </p:sp>
      <p:sp>
        <p:nvSpPr>
          <p:cNvPr id="32" name="Text 30"/>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3/10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Module-Wise Project Split</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Ownership boundaries and why each layer exists</a:t>
            </a:r>
            <a:endParaRPr lang="en-US" sz="1600" dirty="0"/>
          </a:p>
        </p:txBody>
      </p:sp>
      <p:sp>
        <p:nvSpPr>
          <p:cNvPr id="4" name="Shape 2"/>
          <p:cNvSpPr/>
          <p:nvPr/>
        </p:nvSpPr>
        <p:spPr>
          <a:xfrm>
            <a:off x="640080" y="1600200"/>
            <a:ext cx="3520440" cy="2057400"/>
          </a:xfrm>
          <a:prstGeom prst="roundRect">
            <a:avLst>
              <a:gd name="adj" fmla="val 3556"/>
            </a:avLst>
          </a:prstGeom>
          <a:solidFill>
            <a:srgbClr val="F7FA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786384" y="170992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UI Layer</a:t>
            </a:r>
            <a:endParaRPr lang="en-US" sz="1600" dirty="0"/>
          </a:p>
        </p:txBody>
      </p:sp>
      <p:sp>
        <p:nvSpPr>
          <p:cNvPr id="6" name="Text 4"/>
          <p:cNvSpPr/>
          <p:nvPr/>
        </p:nvSpPr>
        <p:spPr>
          <a:xfrm>
            <a:off x="786384" y="203911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`ui/tabs.py`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`ui/runner.py`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`ui/preflight.py`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Handles user configuration, run gating, trace display, and exports.</a:t>
            </a:r>
            <a:endParaRPr lang="en-US" sz="1200" dirty="0"/>
          </a:p>
        </p:txBody>
      </p:sp>
      <p:sp>
        <p:nvSpPr>
          <p:cNvPr id="7" name="Shape 5"/>
          <p:cNvSpPr/>
          <p:nvPr/>
        </p:nvSpPr>
        <p:spPr>
          <a:xfrm>
            <a:off x="4389120" y="1600200"/>
            <a:ext cx="3520440" cy="2057400"/>
          </a:xfrm>
          <a:prstGeom prst="roundRect">
            <a:avLst>
              <a:gd name="adj" fmla="val 3556"/>
            </a:avLst>
          </a:prstGeom>
          <a:solidFill>
            <a:srgbClr val="F7FA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4535424" y="170992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Agent Core</a:t>
            </a:r>
            <a:endParaRPr lang="en-US" sz="1600" dirty="0"/>
          </a:p>
        </p:txBody>
      </p:sp>
      <p:sp>
        <p:nvSpPr>
          <p:cNvPr id="9" name="Text 7"/>
          <p:cNvSpPr/>
          <p:nvPr/>
        </p:nvSpPr>
        <p:spPr>
          <a:xfrm>
            <a:off x="4535424" y="203911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`agent/graph.py`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`agent/state.py`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`agent/nodes/*`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Owns execution graph, routing, state mutation, and output assembly.</a:t>
            </a:r>
            <a:endParaRPr lang="en-US" sz="1200" dirty="0"/>
          </a:p>
        </p:txBody>
      </p:sp>
      <p:sp>
        <p:nvSpPr>
          <p:cNvPr id="10" name="Shape 8"/>
          <p:cNvSpPr/>
          <p:nvPr/>
        </p:nvSpPr>
        <p:spPr>
          <a:xfrm>
            <a:off x="8138160" y="1600200"/>
            <a:ext cx="3520440" cy="2057400"/>
          </a:xfrm>
          <a:prstGeom prst="roundRect">
            <a:avLst>
              <a:gd name="adj" fmla="val 3556"/>
            </a:avLst>
          </a:prstGeom>
          <a:solidFill>
            <a:srgbClr val="F7FA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8284464" y="170992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Tooling Layer</a:t>
            </a:r>
            <a:endParaRPr lang="en-US" sz="1600" dirty="0"/>
          </a:p>
        </p:txBody>
      </p:sp>
      <p:sp>
        <p:nvSpPr>
          <p:cNvPr id="12" name="Text 10"/>
          <p:cNvSpPr/>
          <p:nvPr/>
        </p:nvSpPr>
        <p:spPr>
          <a:xfrm>
            <a:off x="8284464" y="203911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`tools/server.py`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`tools/load_data.py`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`tools/calc_metrics.py`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Exposes typed operational functions via MCP contracts.</a:t>
            </a:r>
            <a:endParaRPr lang="en-US" sz="1200" dirty="0"/>
          </a:p>
        </p:txBody>
      </p:sp>
      <p:sp>
        <p:nvSpPr>
          <p:cNvPr id="13" name="Shape 11"/>
          <p:cNvSpPr/>
          <p:nvPr/>
        </p:nvSpPr>
        <p:spPr>
          <a:xfrm>
            <a:off x="640080" y="3931920"/>
            <a:ext cx="3520440" cy="2057400"/>
          </a:xfrm>
          <a:prstGeom prst="roundRect">
            <a:avLst>
              <a:gd name="adj" fmla="val 3556"/>
            </a:avLst>
          </a:prstGeom>
          <a:solidFill>
            <a:srgbClr val="F4F8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4" name="Text 12"/>
          <p:cNvSpPr/>
          <p:nvPr/>
        </p:nvSpPr>
        <p:spPr>
          <a:xfrm>
            <a:off x="786384" y="404164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Knowledge Layer</a:t>
            </a:r>
            <a:endParaRPr lang="en-US" sz="1600" dirty="0"/>
          </a:p>
        </p:txBody>
      </p:sp>
      <p:sp>
        <p:nvSpPr>
          <p:cNvPr id="15" name="Text 13"/>
          <p:cNvSpPr/>
          <p:nvPr/>
        </p:nvSpPr>
        <p:spPr>
          <a:xfrm>
            <a:off x="786384" y="437083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`knowledge/networkx_graph.py`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`knowledge/cache_layer.py`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Builds/query runtime graph context and stores in-memory cache artifacts.</a:t>
            </a:r>
            <a:endParaRPr lang="en-US" sz="1200" dirty="0"/>
          </a:p>
        </p:txBody>
      </p:sp>
      <p:sp>
        <p:nvSpPr>
          <p:cNvPr id="16" name="Shape 14"/>
          <p:cNvSpPr/>
          <p:nvPr/>
        </p:nvSpPr>
        <p:spPr>
          <a:xfrm>
            <a:off x="4389120" y="3931920"/>
            <a:ext cx="3520440" cy="2057400"/>
          </a:xfrm>
          <a:prstGeom prst="roundRect">
            <a:avLst>
              <a:gd name="adj" fmla="val 3556"/>
            </a:avLst>
          </a:prstGeom>
          <a:solidFill>
            <a:srgbClr val="F4F8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7" name="Text 15"/>
          <p:cNvSpPr/>
          <p:nvPr/>
        </p:nvSpPr>
        <p:spPr>
          <a:xfrm>
            <a:off x="4535424" y="404164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Config + Runtime</a:t>
            </a:r>
            <a:endParaRPr lang="en-US" sz="1600" dirty="0"/>
          </a:p>
        </p:txBody>
      </p:sp>
      <p:sp>
        <p:nvSpPr>
          <p:cNvPr id="18" name="Text 16"/>
          <p:cNvSpPr/>
          <p:nvPr/>
        </p:nvSpPr>
        <p:spPr>
          <a:xfrm>
            <a:off x="4535424" y="437083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`config/thresholds.yaml`</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`main.py`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Defines thresholds, modes, and top-level run initialization.</a:t>
            </a:r>
            <a:endParaRPr lang="en-US" sz="1200" dirty="0"/>
          </a:p>
        </p:txBody>
      </p:sp>
      <p:sp>
        <p:nvSpPr>
          <p:cNvPr id="19" name="Shape 17"/>
          <p:cNvSpPr/>
          <p:nvPr/>
        </p:nvSpPr>
        <p:spPr>
          <a:xfrm>
            <a:off x="8138160" y="3931920"/>
            <a:ext cx="3520440" cy="2057400"/>
          </a:xfrm>
          <a:prstGeom prst="roundRect">
            <a:avLst>
              <a:gd name="adj" fmla="val 3556"/>
            </a:avLst>
          </a:prstGeom>
          <a:solidFill>
            <a:srgbClr val="F4F8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0" name="Text 18"/>
          <p:cNvSpPr/>
          <p:nvPr/>
        </p:nvSpPr>
        <p:spPr>
          <a:xfrm>
            <a:off x="8284464" y="4041648"/>
            <a:ext cx="32461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Quality Layer</a:t>
            </a:r>
            <a:endParaRPr lang="en-US" sz="1600" dirty="0"/>
          </a:p>
        </p:txBody>
      </p:sp>
      <p:sp>
        <p:nvSpPr>
          <p:cNvPr id="21" name="Text 19"/>
          <p:cNvSpPr/>
          <p:nvPr/>
        </p:nvSpPr>
        <p:spPr>
          <a:xfrm>
            <a:off x="8284464" y="4370832"/>
            <a:ext cx="3246120" cy="15270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`tests/unit/*`</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`tests/integration/*`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`tests/fallback/*`</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Prevents regressions across deterministic, agentic, and fallback paths.</a:t>
            </a:r>
            <a:endParaRPr lang="en-US" sz="1200" dirty="0"/>
          </a:p>
        </p:txBody>
      </p:sp>
      <p:sp>
        <p:nvSpPr>
          <p:cNvPr id="22" name="Text 20"/>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4/10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Deterministic Flow</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Predictable execution backbone for stable recommendations</a:t>
            </a:r>
            <a:endParaRPr lang="en-US" sz="1600" dirty="0"/>
          </a:p>
        </p:txBody>
      </p:sp>
      <p:sp>
        <p:nvSpPr>
          <p:cNvPr id="4" name="Shape 2"/>
          <p:cNvSpPr/>
          <p:nvPr/>
        </p:nvSpPr>
        <p:spPr>
          <a:xfrm>
            <a:off x="731520" y="1828800"/>
            <a:ext cx="1645920" cy="310896"/>
          </a:xfrm>
          <a:prstGeom prst="roundRect">
            <a:avLst>
              <a:gd name="adj" fmla="val 23529"/>
            </a:avLst>
          </a:prstGeom>
          <a:solidFill>
            <a:srgbClr val="2A3359"/>
          </a:solidFill>
          <a:ln w="12700">
            <a:solidFill>
              <a:srgbClr val="2A3359"/>
            </a:solidFill>
            <a:prstDash val="solid"/>
          </a:ln>
        </p:spPr>
      </p:sp>
      <p:sp>
        <p:nvSpPr>
          <p:cNvPr id="5" name="Text 3"/>
          <p:cNvSpPr/>
          <p:nvPr/>
        </p:nvSpPr>
        <p:spPr>
          <a:xfrm>
            <a:off x="8046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1. Load Data</a:t>
            </a:r>
            <a:endParaRPr lang="en-US" sz="1100" dirty="0"/>
          </a:p>
        </p:txBody>
      </p:sp>
      <p:sp>
        <p:nvSpPr>
          <p:cNvPr id="6" name="Shape 4"/>
          <p:cNvSpPr/>
          <p:nvPr/>
        </p:nvSpPr>
        <p:spPr>
          <a:xfrm>
            <a:off x="2395728" y="1901952"/>
            <a:ext cx="146304" cy="164592"/>
          </a:xfrm>
          <a:prstGeom prst="chevron">
            <a:avLst/>
          </a:prstGeom>
          <a:solidFill>
            <a:srgbClr val="6E7BA6"/>
          </a:solidFill>
          <a:ln w="12700">
            <a:solidFill>
              <a:srgbClr val="6E7BA6"/>
            </a:solidFill>
            <a:prstDash val="solid"/>
          </a:ln>
        </p:spPr>
      </p:sp>
      <p:sp>
        <p:nvSpPr>
          <p:cNvPr id="7" name="Shape 5"/>
          <p:cNvSpPr/>
          <p:nvPr/>
        </p:nvSpPr>
        <p:spPr>
          <a:xfrm>
            <a:off x="2560320" y="1828800"/>
            <a:ext cx="1645920" cy="310896"/>
          </a:xfrm>
          <a:prstGeom prst="roundRect">
            <a:avLst>
              <a:gd name="adj" fmla="val 23529"/>
            </a:avLst>
          </a:prstGeom>
          <a:solidFill>
            <a:srgbClr val="00A6A6"/>
          </a:solidFill>
          <a:ln w="12700">
            <a:solidFill>
              <a:srgbClr val="00A6A6"/>
            </a:solidFill>
            <a:prstDash val="solid"/>
          </a:ln>
        </p:spPr>
      </p:sp>
      <p:sp>
        <p:nvSpPr>
          <p:cNvPr id="8" name="Text 6"/>
          <p:cNvSpPr/>
          <p:nvPr/>
        </p:nvSpPr>
        <p:spPr>
          <a:xfrm>
            <a:off x="26334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2. Compute Metrics</a:t>
            </a:r>
            <a:endParaRPr lang="en-US" sz="1100" dirty="0"/>
          </a:p>
        </p:txBody>
      </p:sp>
      <p:sp>
        <p:nvSpPr>
          <p:cNvPr id="9" name="Shape 7"/>
          <p:cNvSpPr/>
          <p:nvPr/>
        </p:nvSpPr>
        <p:spPr>
          <a:xfrm>
            <a:off x="4224528" y="1901952"/>
            <a:ext cx="146304" cy="164592"/>
          </a:xfrm>
          <a:prstGeom prst="chevron">
            <a:avLst/>
          </a:prstGeom>
          <a:solidFill>
            <a:srgbClr val="6E7BA6"/>
          </a:solidFill>
          <a:ln w="12700">
            <a:solidFill>
              <a:srgbClr val="6E7BA6"/>
            </a:solidFill>
            <a:prstDash val="solid"/>
          </a:ln>
        </p:spPr>
      </p:sp>
      <p:sp>
        <p:nvSpPr>
          <p:cNvPr id="10" name="Shape 8"/>
          <p:cNvSpPr/>
          <p:nvPr/>
        </p:nvSpPr>
        <p:spPr>
          <a:xfrm>
            <a:off x="4389120" y="1828800"/>
            <a:ext cx="1645920" cy="310896"/>
          </a:xfrm>
          <a:prstGeom prst="roundRect">
            <a:avLst>
              <a:gd name="adj" fmla="val 23529"/>
            </a:avLst>
          </a:prstGeom>
          <a:solidFill>
            <a:srgbClr val="2A3359"/>
          </a:solidFill>
          <a:ln w="12700">
            <a:solidFill>
              <a:srgbClr val="2A3359"/>
            </a:solidFill>
            <a:prstDash val="solid"/>
          </a:ln>
        </p:spPr>
      </p:sp>
      <p:sp>
        <p:nvSpPr>
          <p:cNvPr id="11" name="Text 9"/>
          <p:cNvSpPr/>
          <p:nvPr/>
        </p:nvSpPr>
        <p:spPr>
          <a:xfrm>
            <a:off x="44622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3. Enrich Context*</a:t>
            </a:r>
            <a:endParaRPr lang="en-US" sz="1100" dirty="0"/>
          </a:p>
        </p:txBody>
      </p:sp>
      <p:sp>
        <p:nvSpPr>
          <p:cNvPr id="12" name="Shape 10"/>
          <p:cNvSpPr/>
          <p:nvPr/>
        </p:nvSpPr>
        <p:spPr>
          <a:xfrm>
            <a:off x="6053328" y="1901952"/>
            <a:ext cx="146304" cy="164592"/>
          </a:xfrm>
          <a:prstGeom prst="chevron">
            <a:avLst/>
          </a:prstGeom>
          <a:solidFill>
            <a:srgbClr val="6E7BA6"/>
          </a:solidFill>
          <a:ln w="12700">
            <a:solidFill>
              <a:srgbClr val="6E7BA6"/>
            </a:solidFill>
            <a:prstDash val="solid"/>
          </a:ln>
        </p:spPr>
      </p:sp>
      <p:sp>
        <p:nvSpPr>
          <p:cNvPr id="13" name="Shape 11"/>
          <p:cNvSpPr/>
          <p:nvPr/>
        </p:nvSpPr>
        <p:spPr>
          <a:xfrm>
            <a:off x="6217920" y="1828800"/>
            <a:ext cx="1645920" cy="310896"/>
          </a:xfrm>
          <a:prstGeom prst="roundRect">
            <a:avLst>
              <a:gd name="adj" fmla="val 23529"/>
            </a:avLst>
          </a:prstGeom>
          <a:solidFill>
            <a:srgbClr val="00A6A6"/>
          </a:solidFill>
          <a:ln w="12700">
            <a:solidFill>
              <a:srgbClr val="00A6A6"/>
            </a:solidFill>
            <a:prstDash val="solid"/>
          </a:ln>
        </p:spPr>
      </p:sp>
      <p:sp>
        <p:nvSpPr>
          <p:cNvPr id="14" name="Text 12"/>
          <p:cNvSpPr/>
          <p:nvPr/>
        </p:nvSpPr>
        <p:spPr>
          <a:xfrm>
            <a:off x="62910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4. Apply Rules</a:t>
            </a:r>
            <a:endParaRPr lang="en-US" sz="1100" dirty="0"/>
          </a:p>
        </p:txBody>
      </p:sp>
      <p:sp>
        <p:nvSpPr>
          <p:cNvPr id="15" name="Shape 13"/>
          <p:cNvSpPr/>
          <p:nvPr/>
        </p:nvSpPr>
        <p:spPr>
          <a:xfrm>
            <a:off x="7882128" y="1901952"/>
            <a:ext cx="146304" cy="164592"/>
          </a:xfrm>
          <a:prstGeom prst="chevron">
            <a:avLst/>
          </a:prstGeom>
          <a:solidFill>
            <a:srgbClr val="6E7BA6"/>
          </a:solidFill>
          <a:ln w="12700">
            <a:solidFill>
              <a:srgbClr val="6E7BA6"/>
            </a:solidFill>
            <a:prstDash val="solid"/>
          </a:ln>
        </p:spPr>
      </p:sp>
      <p:sp>
        <p:nvSpPr>
          <p:cNvPr id="16" name="Shape 14"/>
          <p:cNvSpPr/>
          <p:nvPr/>
        </p:nvSpPr>
        <p:spPr>
          <a:xfrm>
            <a:off x="8046720" y="1828800"/>
            <a:ext cx="1645920" cy="310896"/>
          </a:xfrm>
          <a:prstGeom prst="roundRect">
            <a:avLst>
              <a:gd name="adj" fmla="val 23529"/>
            </a:avLst>
          </a:prstGeom>
          <a:solidFill>
            <a:srgbClr val="2A3359"/>
          </a:solidFill>
          <a:ln w="12700">
            <a:solidFill>
              <a:srgbClr val="2A3359"/>
            </a:solidFill>
            <a:prstDash val="solid"/>
          </a:ln>
        </p:spPr>
      </p:sp>
      <p:sp>
        <p:nvSpPr>
          <p:cNvPr id="17" name="Text 15"/>
          <p:cNvSpPr/>
          <p:nvPr/>
        </p:nvSpPr>
        <p:spPr>
          <a:xfrm>
            <a:off x="81198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5. Generate Prompts</a:t>
            </a:r>
            <a:endParaRPr lang="en-US" sz="1100" dirty="0"/>
          </a:p>
        </p:txBody>
      </p:sp>
      <p:sp>
        <p:nvSpPr>
          <p:cNvPr id="18" name="Shape 16"/>
          <p:cNvSpPr/>
          <p:nvPr/>
        </p:nvSpPr>
        <p:spPr>
          <a:xfrm>
            <a:off x="9710928" y="1901952"/>
            <a:ext cx="146304" cy="164592"/>
          </a:xfrm>
          <a:prstGeom prst="chevron">
            <a:avLst/>
          </a:prstGeom>
          <a:solidFill>
            <a:srgbClr val="6E7BA6"/>
          </a:solidFill>
          <a:ln w="12700">
            <a:solidFill>
              <a:srgbClr val="6E7BA6"/>
            </a:solidFill>
            <a:prstDash val="solid"/>
          </a:ln>
        </p:spPr>
      </p:sp>
      <p:sp>
        <p:nvSpPr>
          <p:cNvPr id="19" name="Shape 17"/>
          <p:cNvSpPr/>
          <p:nvPr/>
        </p:nvSpPr>
        <p:spPr>
          <a:xfrm>
            <a:off x="9875520" y="1828800"/>
            <a:ext cx="1645920" cy="310896"/>
          </a:xfrm>
          <a:prstGeom prst="roundRect">
            <a:avLst>
              <a:gd name="adj" fmla="val 23529"/>
            </a:avLst>
          </a:prstGeom>
          <a:solidFill>
            <a:srgbClr val="00A6A6"/>
          </a:solidFill>
          <a:ln w="12700">
            <a:solidFill>
              <a:srgbClr val="00A6A6"/>
            </a:solidFill>
            <a:prstDash val="solid"/>
          </a:ln>
        </p:spPr>
      </p:sp>
      <p:sp>
        <p:nvSpPr>
          <p:cNvPr id="20" name="Text 18"/>
          <p:cNvSpPr/>
          <p:nvPr/>
        </p:nvSpPr>
        <p:spPr>
          <a:xfrm>
            <a:off x="9948672" y="1883664"/>
            <a:ext cx="1499616" cy="201168"/>
          </a:xfrm>
          <a:prstGeom prst="rect">
            <a:avLst/>
          </a:prstGeom>
          <a:noFill/>
          <a:ln/>
        </p:spPr>
        <p:txBody>
          <a:bodyPr wrap="square" rtlCol="0" anchor="ctr"/>
          <a:lstStyle/>
          <a:p>
            <a:pPr algn="ctr" indent="0" marL="0">
              <a:buNone/>
            </a:pPr>
            <a:r>
              <a:rPr lang="en-US" sz="1100" b="1" dirty="0">
                <a:solidFill>
                  <a:srgbClr val="1B1F2B"/>
                </a:solidFill>
                <a:latin typeface="Calibri" pitchFamily="34" charset="0"/>
                <a:ea typeface="Calibri" pitchFamily="34" charset="-122"/>
                <a:cs typeface="Calibri" pitchFamily="34" charset="-120"/>
              </a:rPr>
              <a:t>6. Explain + Format</a:t>
            </a:r>
            <a:endParaRPr lang="en-US" sz="1100" dirty="0"/>
          </a:p>
        </p:txBody>
      </p:sp>
      <p:sp>
        <p:nvSpPr>
          <p:cNvPr id="21" name="Shape 19"/>
          <p:cNvSpPr/>
          <p:nvPr/>
        </p:nvSpPr>
        <p:spPr>
          <a:xfrm>
            <a:off x="731520" y="2331720"/>
            <a:ext cx="5440680" cy="2560320"/>
          </a:xfrm>
          <a:prstGeom prst="roundRect">
            <a:avLst>
              <a:gd name="adj" fmla="val 2857"/>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2" name="Text 20"/>
          <p:cNvSpPr/>
          <p:nvPr/>
        </p:nvSpPr>
        <p:spPr>
          <a:xfrm>
            <a:off x="877824" y="2441448"/>
            <a:ext cx="516636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Core Deterministic Node Chain</a:t>
            </a:r>
            <a:endParaRPr lang="en-US" sz="1600" dirty="0"/>
          </a:p>
        </p:txBody>
      </p:sp>
      <p:sp>
        <p:nvSpPr>
          <p:cNvPr id="23" name="Text 21"/>
          <p:cNvSpPr/>
          <p:nvPr/>
        </p:nvSpPr>
        <p:spPr>
          <a:xfrm>
            <a:off x="877824" y="2770632"/>
            <a:ext cx="5166360" cy="20299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`agent/nodes/load_data.py`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`agent/nodes/calculate_metrics.py`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`agent/nodes/enrich_context.py` (*thinking only)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`agent/nodes/apply_rules.py`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`agent/nodes/generate_recs.py`</a:t>
            </a:r>
            <a:endParaRPr lang="en-US" sz="1200" dirty="0"/>
          </a:p>
        </p:txBody>
      </p:sp>
      <p:sp>
        <p:nvSpPr>
          <p:cNvPr id="24" name="Shape 22"/>
          <p:cNvSpPr/>
          <p:nvPr/>
        </p:nvSpPr>
        <p:spPr>
          <a:xfrm>
            <a:off x="6355080" y="2331720"/>
            <a:ext cx="5349240" cy="2560320"/>
          </a:xfrm>
          <a:prstGeom prst="roundRect">
            <a:avLst>
              <a:gd name="adj" fmla="val 2857"/>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5" name="Text 23"/>
          <p:cNvSpPr/>
          <p:nvPr/>
        </p:nvSpPr>
        <p:spPr>
          <a:xfrm>
            <a:off x="6501384" y="2441448"/>
            <a:ext cx="50749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Explanation + Output Stage</a:t>
            </a:r>
            <a:endParaRPr lang="en-US" sz="1600" dirty="0"/>
          </a:p>
        </p:txBody>
      </p:sp>
      <p:sp>
        <p:nvSpPr>
          <p:cNvPr id="26" name="Text 24"/>
          <p:cNvSpPr/>
          <p:nvPr/>
        </p:nvSpPr>
        <p:spPr>
          <a:xfrm>
            <a:off x="6501384" y="2770632"/>
            <a:ext cx="5074920" cy="20299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`agent/nodes/explain_llm.py`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`agent/nodes/template_explanation.py`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`agent/nodes/format_output.py`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Output includes summary, recommendations, diagnostics metadata, and trace-friendly event logs.</a:t>
            </a:r>
            <a:endParaRPr lang="en-US" sz="1200" dirty="0"/>
          </a:p>
        </p:txBody>
      </p:sp>
      <p:sp>
        <p:nvSpPr>
          <p:cNvPr id="27" name="Shape 25"/>
          <p:cNvSpPr/>
          <p:nvPr/>
        </p:nvSpPr>
        <p:spPr>
          <a:xfrm>
            <a:off x="731520" y="5074920"/>
            <a:ext cx="10972800" cy="1143000"/>
          </a:xfrm>
          <a:prstGeom prst="roundRect">
            <a:avLst>
              <a:gd name="adj" fmla="val 6400"/>
            </a:avLst>
          </a:prstGeom>
          <a:solidFill>
            <a:srgbClr val="FFFF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28" name="Text 26"/>
          <p:cNvSpPr/>
          <p:nvPr/>
        </p:nvSpPr>
        <p:spPr>
          <a:xfrm>
            <a:off x="877824" y="5184648"/>
            <a:ext cx="106984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This Matters</a:t>
            </a:r>
            <a:endParaRPr lang="en-US" sz="1600" dirty="0"/>
          </a:p>
        </p:txBody>
      </p:sp>
      <p:sp>
        <p:nvSpPr>
          <p:cNvPr id="29" name="Text 27"/>
          <p:cNvSpPr/>
          <p:nvPr/>
        </p:nvSpPr>
        <p:spPr>
          <a:xfrm>
            <a:off x="877824" y="5513832"/>
            <a:ext cx="10698480" cy="61264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Deterministic mode guarantees operational consistency, explicit traceability, and robust fallback behavior when model output quality is inconsistent.</a:t>
            </a:r>
            <a:endParaRPr lang="en-US" sz="1200" dirty="0"/>
          </a:p>
        </p:txBody>
      </p:sp>
      <p:sp>
        <p:nvSpPr>
          <p:cNvPr id="30" name="Text 28"/>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5/10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Agentic Flow: Hybrid vs Full</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Planner loop orchestration and control boundaries</a:t>
            </a:r>
            <a:endParaRPr lang="en-US" sz="1600" dirty="0"/>
          </a:p>
        </p:txBody>
      </p:sp>
      <p:sp>
        <p:nvSpPr>
          <p:cNvPr id="4" name="Shape 2"/>
          <p:cNvSpPr/>
          <p:nvPr/>
        </p:nvSpPr>
        <p:spPr>
          <a:xfrm>
            <a:off x="640080" y="1600200"/>
            <a:ext cx="5486400" cy="2148840"/>
          </a:xfrm>
          <a:prstGeom prst="roundRect">
            <a:avLst>
              <a:gd name="adj" fmla="val 3404"/>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786384" y="1709928"/>
            <a:ext cx="52120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Hybrid Mode (thinking)</a:t>
            </a:r>
            <a:endParaRPr lang="en-US" sz="1600" dirty="0"/>
          </a:p>
        </p:txBody>
      </p:sp>
      <p:sp>
        <p:nvSpPr>
          <p:cNvPr id="6" name="Text 4"/>
          <p:cNvSpPr/>
          <p:nvPr/>
        </p:nvSpPr>
        <p:spPr>
          <a:xfrm>
            <a:off x="786384" y="2039112"/>
            <a:ext cx="5212080" cy="16184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Deterministic backbone runs first, then planner/executor loop can orchestrate additional tool actions before explanation.</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Files: `agent/graph.py`, `agent/nodes/planner_action.py`, `agent/nodes/execute_action.py`</a:t>
            </a:r>
            <a:endParaRPr lang="en-US" sz="1200" dirty="0"/>
          </a:p>
        </p:txBody>
      </p:sp>
      <p:sp>
        <p:nvSpPr>
          <p:cNvPr id="7" name="Shape 5"/>
          <p:cNvSpPr/>
          <p:nvPr/>
        </p:nvSpPr>
        <p:spPr>
          <a:xfrm>
            <a:off x="6355080" y="1600200"/>
            <a:ext cx="5349240" cy="2148840"/>
          </a:xfrm>
          <a:prstGeom prst="roundRect">
            <a:avLst>
              <a:gd name="adj" fmla="val 3404"/>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6501384" y="1709928"/>
            <a:ext cx="50749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Full Mode (thinking)</a:t>
            </a:r>
            <a:endParaRPr lang="en-US" sz="1600" dirty="0"/>
          </a:p>
        </p:txBody>
      </p:sp>
      <p:sp>
        <p:nvSpPr>
          <p:cNvPr id="9" name="Text 7"/>
          <p:cNvSpPr/>
          <p:nvPr/>
        </p:nvSpPr>
        <p:spPr>
          <a:xfrm>
            <a:off x="6501384" y="2039112"/>
            <a:ext cx="5074920" cy="16184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Planner-first route: agent selects tool sequence and exits when done. Contract checks ensure deterministic system does not silently take over full mode.</a:t>
            </a:r>
            <a:endParaRPr lang="en-US" sz="1200" dirty="0"/>
          </a:p>
        </p:txBody>
      </p:sp>
      <p:sp>
        <p:nvSpPr>
          <p:cNvPr id="10" name="Shape 8"/>
          <p:cNvSpPr/>
          <p:nvPr/>
        </p:nvSpPr>
        <p:spPr>
          <a:xfrm>
            <a:off x="640080" y="3977640"/>
            <a:ext cx="11064240" cy="2148840"/>
          </a:xfrm>
          <a:prstGeom prst="roundRect">
            <a:avLst>
              <a:gd name="adj" fmla="val 3404"/>
            </a:avLst>
          </a:prstGeom>
          <a:solidFill>
            <a:srgbClr val="FFFF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786384" y="4087368"/>
            <a:ext cx="107899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Planner Loop Mechanics</a:t>
            </a:r>
            <a:endParaRPr lang="en-US" sz="1600" dirty="0"/>
          </a:p>
        </p:txBody>
      </p:sp>
      <p:sp>
        <p:nvSpPr>
          <p:cNvPr id="12" name="Text 10"/>
          <p:cNvSpPr/>
          <p:nvPr/>
        </p:nvSpPr>
        <p:spPr>
          <a:xfrm>
            <a:off x="786384" y="4416552"/>
            <a:ext cx="10789920" cy="161848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Loop: `planner_action` -&gt; `execute_action` -&gt; repeat until done or step cap.</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Guardrails: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Action schema validation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Duplicate action suppression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Stage-aware tool validity checks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Explicit stop reason (`agent_fallback_reason`)</a:t>
            </a:r>
            <a:endParaRPr lang="en-US" sz="1200" dirty="0"/>
          </a:p>
        </p:txBody>
      </p:sp>
      <p:sp>
        <p:nvSpPr>
          <p:cNvPr id="13" name="Text 11"/>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6/10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LangGraph Agent Module</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State contract, routing functions, and node graph composition</a:t>
            </a:r>
            <a:endParaRPr lang="en-US" sz="1600" dirty="0"/>
          </a:p>
        </p:txBody>
      </p:sp>
      <p:sp>
        <p:nvSpPr>
          <p:cNvPr id="4" name="Shape 2"/>
          <p:cNvSpPr/>
          <p:nvPr/>
        </p:nvSpPr>
        <p:spPr>
          <a:xfrm>
            <a:off x="640080" y="1600200"/>
            <a:ext cx="3657600" cy="4480560"/>
          </a:xfrm>
          <a:prstGeom prst="roundRect">
            <a:avLst>
              <a:gd name="adj" fmla="val 2000"/>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786384" y="1709928"/>
            <a:ext cx="33832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State Contract</a:t>
            </a:r>
            <a:endParaRPr lang="en-US" sz="1600" dirty="0"/>
          </a:p>
        </p:txBody>
      </p:sp>
      <p:sp>
        <p:nvSpPr>
          <p:cNvPr id="6" name="Text 4"/>
          <p:cNvSpPr/>
          <p:nvPr/>
        </p:nvSpPr>
        <p:spPr>
          <a:xfrm>
            <a:off x="786384" y="2039112"/>
            <a:ext cx="3383280" cy="39502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`agent/state.py` defines typed runtime fields for:</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records, metrics, contexts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 logs and flow events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planner loop state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LLM responses and reasoning</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runtime graph diagnostics</a:t>
            </a:r>
            <a:endParaRPr lang="en-US" sz="1200" dirty="0"/>
          </a:p>
        </p:txBody>
      </p:sp>
      <p:sp>
        <p:nvSpPr>
          <p:cNvPr id="7" name="Shape 5"/>
          <p:cNvSpPr/>
          <p:nvPr/>
        </p:nvSpPr>
        <p:spPr>
          <a:xfrm>
            <a:off x="4526280" y="1600200"/>
            <a:ext cx="3566160" cy="4480560"/>
          </a:xfrm>
          <a:prstGeom prst="roundRect">
            <a:avLst>
              <a:gd name="adj" fmla="val 2051"/>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4672584" y="1709928"/>
            <a:ext cx="329184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Routing Layer</a:t>
            </a:r>
            <a:endParaRPr lang="en-US" sz="1600" dirty="0"/>
          </a:p>
        </p:txBody>
      </p:sp>
      <p:sp>
        <p:nvSpPr>
          <p:cNvPr id="9" name="Text 7"/>
          <p:cNvSpPr/>
          <p:nvPr/>
        </p:nvSpPr>
        <p:spPr>
          <a:xfrm>
            <a:off x="4672584" y="2039112"/>
            <a:ext cx="3291840" cy="39502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`agent/graph.py` routes by mode and agent_mode:</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fast -&gt; deterministic path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thinking+deterministic -&gt; enriched deterministic path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thinking+hybrid/full -&gt; planner loop branches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Routers: `_route_from_mode`, `_route_after_metrics`, `_route_after_planner`.</a:t>
            </a:r>
            <a:endParaRPr lang="en-US" sz="1200" dirty="0"/>
          </a:p>
        </p:txBody>
      </p:sp>
      <p:sp>
        <p:nvSpPr>
          <p:cNvPr id="10" name="Shape 8"/>
          <p:cNvSpPr/>
          <p:nvPr/>
        </p:nvSpPr>
        <p:spPr>
          <a:xfrm>
            <a:off x="8321040" y="1600200"/>
            <a:ext cx="3383280" cy="4480560"/>
          </a:xfrm>
          <a:prstGeom prst="roundRect">
            <a:avLst>
              <a:gd name="adj" fmla="val 2162"/>
            </a:avLst>
          </a:prstGeom>
          <a:solidFill>
            <a:srgbClr val="FFF8EE"/>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8467344" y="1709928"/>
            <a:ext cx="310896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Why LangGraph</a:t>
            </a:r>
            <a:endParaRPr lang="en-US" sz="1600" dirty="0"/>
          </a:p>
        </p:txBody>
      </p:sp>
      <p:sp>
        <p:nvSpPr>
          <p:cNvPr id="12" name="Text 10"/>
          <p:cNvSpPr/>
          <p:nvPr/>
        </p:nvSpPr>
        <p:spPr>
          <a:xfrm>
            <a:off x="8467344" y="2039112"/>
            <a:ext cx="3108960" cy="39502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Explicit control flow</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Deterministic state transitions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Easier debugging than implicit agent loops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Native fit for mixed deterministic + agentic orchestration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Streamed progress events for UI trace panels</a:t>
            </a:r>
            <a:endParaRPr lang="en-US" sz="1200" dirty="0"/>
          </a:p>
        </p:txBody>
      </p:sp>
      <p:sp>
        <p:nvSpPr>
          <p:cNvPr id="13" name="Text 11"/>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7/10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MCP Tools + NetworkX Runtime Graph</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How tool contracts and graph context connect in thinking mode</a:t>
            </a:r>
            <a:endParaRPr lang="en-US" sz="1600" dirty="0"/>
          </a:p>
        </p:txBody>
      </p:sp>
      <p:sp>
        <p:nvSpPr>
          <p:cNvPr id="4" name="Shape 2"/>
          <p:cNvSpPr/>
          <p:nvPr/>
        </p:nvSpPr>
        <p:spPr>
          <a:xfrm>
            <a:off x="640080" y="1600200"/>
            <a:ext cx="5440680" cy="2331720"/>
          </a:xfrm>
          <a:prstGeom prst="roundRect">
            <a:avLst>
              <a:gd name="adj" fmla="val 3137"/>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786384" y="1709928"/>
            <a:ext cx="516636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MCP Tool Contracts</a:t>
            </a:r>
            <a:endParaRPr lang="en-US" sz="1600" dirty="0"/>
          </a:p>
        </p:txBody>
      </p:sp>
      <p:sp>
        <p:nvSpPr>
          <p:cNvPr id="6" name="Text 4"/>
          <p:cNvSpPr/>
          <p:nvPr/>
        </p:nvSpPr>
        <p:spPr>
          <a:xfrm>
            <a:off x="786384" y="2039112"/>
            <a:ext cx="5166360" cy="18013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Registered in `tools/server.py`: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`load_inventory`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`calc_metrics_batch`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`query_graph_batch`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`apply_rules_batch`</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Planner and deterministic nodes both consume the same tool primitives.</a:t>
            </a:r>
            <a:endParaRPr lang="en-US" sz="1200" dirty="0"/>
          </a:p>
        </p:txBody>
      </p:sp>
      <p:sp>
        <p:nvSpPr>
          <p:cNvPr id="7" name="Shape 5"/>
          <p:cNvSpPr/>
          <p:nvPr/>
        </p:nvSpPr>
        <p:spPr>
          <a:xfrm>
            <a:off x="6309360" y="1600200"/>
            <a:ext cx="5394960" cy="2331720"/>
          </a:xfrm>
          <a:prstGeom prst="roundRect">
            <a:avLst>
              <a:gd name="adj" fmla="val 3137"/>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6455664" y="1709928"/>
            <a:ext cx="512064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NetworkX Graph Design</a:t>
            </a:r>
            <a:endParaRPr lang="en-US" sz="1600" dirty="0"/>
          </a:p>
        </p:txBody>
      </p:sp>
      <p:sp>
        <p:nvSpPr>
          <p:cNvPr id="9" name="Text 7"/>
          <p:cNvSpPr/>
          <p:nvPr/>
        </p:nvSpPr>
        <p:spPr>
          <a:xfrm>
            <a:off x="6455664" y="2039112"/>
            <a:ext cx="5120640" cy="180136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`knowledge/networkx_graph.py` builds runtime graph from uploaded rows: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SKU nodes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category nodes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optional supplier nodes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Edges encode belongs-to and supply relationships; queries return enrichment context and risk tags.</a:t>
            </a:r>
            <a:endParaRPr lang="en-US" sz="1200" dirty="0"/>
          </a:p>
        </p:txBody>
      </p:sp>
      <p:sp>
        <p:nvSpPr>
          <p:cNvPr id="10" name="Shape 8"/>
          <p:cNvSpPr/>
          <p:nvPr/>
        </p:nvSpPr>
        <p:spPr>
          <a:xfrm>
            <a:off x="640080" y="4160520"/>
            <a:ext cx="11064240" cy="1965960"/>
          </a:xfrm>
          <a:prstGeom prst="roundRect">
            <a:avLst>
              <a:gd name="adj" fmla="val 3721"/>
            </a:avLst>
          </a:prstGeom>
          <a:solidFill>
            <a:srgbClr val="FFFF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786384" y="4270248"/>
            <a:ext cx="107899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Connection Model + Justification</a:t>
            </a:r>
            <a:endParaRPr lang="en-US" sz="1600" dirty="0"/>
          </a:p>
        </p:txBody>
      </p:sp>
      <p:sp>
        <p:nvSpPr>
          <p:cNvPr id="12" name="Text 10"/>
          <p:cNvSpPr/>
          <p:nvPr/>
        </p:nvSpPr>
        <p:spPr>
          <a:xfrm>
            <a:off x="786384" y="4599432"/>
            <a:ext cx="10789920" cy="143560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`tools/query_graph.py` enforces runtime graph usage (thinking mode) with in-memory cache from `knowledge/cache_layer.py`.</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Why this choice now:</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local-first operation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low infra overhead</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transparent debug path</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strong fit for per-run graph construction from uploaded datasets</a:t>
            </a:r>
            <a:endParaRPr lang="en-US" sz="1200" dirty="0"/>
          </a:p>
        </p:txBody>
      </p:sp>
      <p:sp>
        <p:nvSpPr>
          <p:cNvPr id="13" name="Text 11"/>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8/10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Fallbacks, Guardrails, and Observability</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6E7BA6"/>
                </a:solidFill>
                <a:latin typeface="Calibri" pitchFamily="34" charset="0"/>
                <a:ea typeface="Calibri" pitchFamily="34" charset="-122"/>
                <a:cs typeface="Calibri" pitchFamily="34" charset="-120"/>
              </a:rPr>
              <a:t>Reliability controls for imperfect model behavior and real-world data quality</a:t>
            </a:r>
            <a:endParaRPr lang="en-US" sz="1600" dirty="0"/>
          </a:p>
        </p:txBody>
      </p:sp>
      <p:sp>
        <p:nvSpPr>
          <p:cNvPr id="4" name="Shape 2"/>
          <p:cNvSpPr/>
          <p:nvPr/>
        </p:nvSpPr>
        <p:spPr>
          <a:xfrm>
            <a:off x="640080" y="1600200"/>
            <a:ext cx="3657600" cy="4526280"/>
          </a:xfrm>
          <a:prstGeom prst="roundRect">
            <a:avLst>
              <a:gd name="adj" fmla="val 2000"/>
            </a:avLst>
          </a:prstGeom>
          <a:solidFill>
            <a:srgbClr val="FFF8EE"/>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5" name="Text 3"/>
          <p:cNvSpPr/>
          <p:nvPr/>
        </p:nvSpPr>
        <p:spPr>
          <a:xfrm>
            <a:off x="786384" y="1709928"/>
            <a:ext cx="33832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Action Guardrails</a:t>
            </a:r>
            <a:endParaRPr lang="en-US" sz="1600" dirty="0"/>
          </a:p>
        </p:txBody>
      </p:sp>
      <p:sp>
        <p:nvSpPr>
          <p:cNvPr id="6" name="Text 4"/>
          <p:cNvSpPr/>
          <p:nvPr/>
        </p:nvSpPr>
        <p:spPr>
          <a:xfrm>
            <a:off x="786384" y="2039112"/>
            <a:ext cx="3383280" cy="399592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`agent/nodes/explain_llm.py` enforces policy corrections:</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healthy + zero reorder: no reorder action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critical/watch: reorder-oriented guidance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overstock: reduce replenishment guidance</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Corrections are explicitly logged.</a:t>
            </a:r>
            <a:endParaRPr lang="en-US" sz="1200" dirty="0"/>
          </a:p>
        </p:txBody>
      </p:sp>
      <p:sp>
        <p:nvSpPr>
          <p:cNvPr id="7" name="Shape 5"/>
          <p:cNvSpPr/>
          <p:nvPr/>
        </p:nvSpPr>
        <p:spPr>
          <a:xfrm>
            <a:off x="4526280" y="1600200"/>
            <a:ext cx="3657600" cy="4526280"/>
          </a:xfrm>
          <a:prstGeom prst="roundRect">
            <a:avLst>
              <a:gd name="adj" fmla="val 2000"/>
            </a:avLst>
          </a:prstGeom>
          <a:solidFill>
            <a:srgbClr val="F2F6FF"/>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8" name="Text 6"/>
          <p:cNvSpPr/>
          <p:nvPr/>
        </p:nvSpPr>
        <p:spPr>
          <a:xfrm>
            <a:off x="4672584" y="1709928"/>
            <a:ext cx="338328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Fallback Strategy</a:t>
            </a:r>
            <a:endParaRPr lang="en-US" sz="1600" dirty="0"/>
          </a:p>
        </p:txBody>
      </p:sp>
      <p:sp>
        <p:nvSpPr>
          <p:cNvPr id="9" name="Text 7"/>
          <p:cNvSpPr/>
          <p:nvPr/>
        </p:nvSpPr>
        <p:spPr>
          <a:xfrm>
            <a:off x="4672584" y="2039112"/>
            <a:ext cx="3383280" cy="399592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 Planner unavailable -&gt; safe stop reason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Missing/partial LLM outputs -&gt; template completion</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Deterministic backbone remains available</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Core files: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`agent/nodes/planner_action.py`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`agent/nodes/template_explanation.py`</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`agent/nodes/format_output.py`</a:t>
            </a:r>
            <a:endParaRPr lang="en-US" sz="1200" dirty="0"/>
          </a:p>
        </p:txBody>
      </p:sp>
      <p:sp>
        <p:nvSpPr>
          <p:cNvPr id="10" name="Shape 8"/>
          <p:cNvSpPr/>
          <p:nvPr/>
        </p:nvSpPr>
        <p:spPr>
          <a:xfrm>
            <a:off x="8412480" y="1600200"/>
            <a:ext cx="3291840" cy="4526280"/>
          </a:xfrm>
          <a:prstGeom prst="roundRect">
            <a:avLst>
              <a:gd name="adj" fmla="val 2222"/>
            </a:avLst>
          </a:prstGeom>
          <a:solidFill>
            <a:srgbClr val="EDF7F7"/>
          </a:solidFill>
          <a:ln w="12700">
            <a:solidFill>
              <a:srgbClr val="D8DEED"/>
            </a:solidFill>
            <a:prstDash val="solid"/>
          </a:ln>
          <a:effectLst>
            <a:outerShdw sx="100000" sy="100000" kx="0" ky="0" algn="bl" rotWithShape="0" blurRad="25400" dist="50800" dir="2700000">
              <a:srgbClr val="BFC9E6">
                <a:alpha val="15000"/>
              </a:srgbClr>
            </a:outerShdw>
          </a:effectLst>
        </p:spPr>
      </p:sp>
      <p:sp>
        <p:nvSpPr>
          <p:cNvPr id="11" name="Text 9"/>
          <p:cNvSpPr/>
          <p:nvPr/>
        </p:nvSpPr>
        <p:spPr>
          <a:xfrm>
            <a:off x="8558784" y="1709928"/>
            <a:ext cx="3017520" cy="27432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Observability</a:t>
            </a:r>
            <a:endParaRPr lang="en-US" sz="1600" dirty="0"/>
          </a:p>
        </p:txBody>
      </p:sp>
      <p:sp>
        <p:nvSpPr>
          <p:cNvPr id="12" name="Text 10"/>
          <p:cNvSpPr/>
          <p:nvPr/>
        </p:nvSpPr>
        <p:spPr>
          <a:xfrm>
            <a:off x="8558784" y="2039112"/>
            <a:ext cx="3017520" cy="3995928"/>
          </a:xfrm>
          <a:prstGeom prst="rect">
            <a:avLst/>
          </a:prstGeom>
          <a:noFill/>
          <a:ln/>
        </p:spPr>
        <p:txBody>
          <a:bodyPr wrap="square" lIns="0" tIns="0" rIns="0" bIns="0" rtlCol="0" anchor="t"/>
          <a:lstStyle/>
          <a:p>
            <a:pPr indent="0" marL="0">
              <a:buNone/>
            </a:pPr>
            <a:r>
              <a:rPr lang="en-US" sz="1200" dirty="0">
                <a:solidFill>
                  <a:srgbClr val="1B1F2B"/>
                </a:solidFill>
                <a:latin typeface="Calibri" pitchFamily="34" charset="0"/>
                <a:ea typeface="Calibri" pitchFamily="34" charset="-122"/>
                <a:cs typeface="Calibri" pitchFamily="34" charset="-120"/>
              </a:rPr>
              <a:t>UI diagnostics (`ui/tabs.py`) expose:</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flow timeline</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tool caller/status logs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LLM batch events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runtime graph stats</a:t>
            </a: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 raw CoT (experimental)</a:t>
            </a:r>
            <a:endParaRPr lang="en-US" sz="1200" dirty="0"/>
          </a:p>
          <a:p>
            <a:pPr indent="0" marL="0">
              <a:buNone/>
            </a:pPr>
            <a:endParaRPr lang="en-US" sz="1200" dirty="0"/>
          </a:p>
          <a:p>
            <a:pPr indent="0" marL="0">
              <a:buNone/>
            </a:pPr>
            <a:r>
              <a:rPr lang="en-US" sz="1200" dirty="0">
                <a:solidFill>
                  <a:srgbClr val="1B1F2B"/>
                </a:solidFill>
                <a:latin typeface="Calibri" pitchFamily="34" charset="0"/>
                <a:ea typeface="Calibri" pitchFamily="34" charset="-122"/>
                <a:cs typeface="Calibri" pitchFamily="34" charset="-120"/>
              </a:rPr>
              <a:t>Trace exports support post-run audits.</a:t>
            </a:r>
            <a:endParaRPr lang="en-US" sz="1200" dirty="0"/>
          </a:p>
        </p:txBody>
      </p:sp>
      <p:sp>
        <p:nvSpPr>
          <p:cNvPr id="13" name="Text 11"/>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4F5F8A"/>
                </a:solidFill>
                <a:latin typeface="Calibri" pitchFamily="34" charset="0"/>
                <a:ea typeface="Calibri" pitchFamily="34" charset="-122"/>
                <a:cs typeface="Calibri" pitchFamily="34" charset="-120"/>
              </a:rPr>
              <a:t>Inventory Manager | Architecture Module Deck | 9/10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 and Forward Plan</a:t>
            </a:r>
            <a:endParaRPr lang="en-US" sz="3400" dirty="0"/>
          </a:p>
        </p:txBody>
      </p:sp>
      <p:sp>
        <p:nvSpPr>
          <p:cNvPr id="3" name="Text 1"/>
          <p:cNvSpPr/>
          <p:nvPr/>
        </p:nvSpPr>
        <p:spPr>
          <a:xfrm>
            <a:off x="548640" y="1005840"/>
            <a:ext cx="11155680" cy="566928"/>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Architecture rationale, tradeoffs, and execution direction</a:t>
            </a:r>
            <a:endParaRPr lang="en-US" sz="1600" dirty="0"/>
          </a:p>
        </p:txBody>
      </p:sp>
      <p:sp>
        <p:nvSpPr>
          <p:cNvPr id="4" name="Text 2"/>
          <p:cNvSpPr/>
          <p:nvPr/>
        </p:nvSpPr>
        <p:spPr>
          <a:xfrm>
            <a:off x="822960" y="1691640"/>
            <a:ext cx="10881360" cy="16459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This architecture is intentionally biased toward operational trust over opaque autonomy. LangGraph provides explicit, inspectable control flow; MCP tools keep business operations modular and testable; and the runtime NetworkX graph grounds thinking-mode recommendations in relationships inferred directly from uploaded inventory data. Together, these choices create a system that can be explained to planners and audited by engineering teams without relying on hidden orchestration behavior.</a:t>
            </a:r>
            <a:endParaRPr lang="en-US" sz="1600" dirty="0"/>
          </a:p>
        </p:txBody>
      </p:sp>
      <p:sp>
        <p:nvSpPr>
          <p:cNvPr id="5" name="Text 3"/>
          <p:cNvSpPr/>
          <p:nvPr/>
        </p:nvSpPr>
        <p:spPr>
          <a:xfrm>
            <a:off x="822960" y="3611880"/>
            <a:ext cx="10881360" cy="164592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implemented mode model now separates speed and depth cleanly: fast mode runs deterministic analysis for responsiveness, while thinking mode adds graph enrichment and optional planner loops for deeper context. Reliability guardrails are no longer optional extras; they are part of the core path, including planner schema validation, duplicate-action suppression, and LLM action correction that prevents contradictory guidance such as reorder recommendations for healthy, zero-reorder SKUs.</a:t>
            </a:r>
            <a:endParaRPr lang="en-US" sz="1600" dirty="0"/>
          </a:p>
        </p:txBody>
      </p:sp>
      <p:sp>
        <p:nvSpPr>
          <p:cNvPr id="6" name="Text 4"/>
          <p:cNvSpPr/>
          <p:nvPr/>
        </p:nvSpPr>
        <p:spPr>
          <a:xfrm>
            <a:off x="822960" y="5486400"/>
            <a:ext cx="1088136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next phase should focus on stronger graph-derived risk features, tighter model profiling for planner quality, and deeper test coverage of guardrail and contract behaviors. Optional raw CoT exposure should remain explicitly marked as experimental and separated from final action logic, preserving explainability without allowing unvalidated reasoning text to drive operational recommendations. This keeps the system practical for real planning teams while remaining extensible for future intelligence upgrades.</a:t>
            </a:r>
            <a:endParaRPr lang="en-US" sz="1500" dirty="0"/>
          </a:p>
        </p:txBody>
      </p:sp>
      <p:sp>
        <p:nvSpPr>
          <p:cNvPr id="7" name="Text 5"/>
          <p:cNvSpPr/>
          <p:nvPr/>
        </p:nvSpPr>
        <p:spPr>
          <a:xfrm>
            <a:off x="548640" y="6263640"/>
            <a:ext cx="11155680" cy="22860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Inventory Manager | Architecture Module Deck | 10/10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Inventory Manager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Optimization AI Agent - Module Architecture</dc:title>
  <dc:subject>Inventory Optimization AI Agent Architecture</dc:subject>
  <dc:creator>Inventory Agent</dc:creator>
  <cp:lastModifiedBy>Inventory Agent</cp:lastModifiedBy>
  <cp:revision>1</cp:revision>
  <dcterms:created xsi:type="dcterms:W3CDTF">2026-04-21T03:12:55Z</dcterms:created>
  <dcterms:modified xsi:type="dcterms:W3CDTF">2026-04-21T03:12:55Z</dcterms:modified>
</cp:coreProperties>
</file>